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4" r:id="rId6"/>
    <p:sldId id="259" r:id="rId7"/>
    <p:sldId id="268" r:id="rId8"/>
    <p:sldId id="269" r:id="rId9"/>
    <p:sldId id="270" r:id="rId10"/>
    <p:sldId id="263" r:id="rId11"/>
  </p:sldIdLst>
  <p:sldSz cx="18288000" cy="10287000"/>
  <p:notesSz cx="6858000" cy="9144000"/>
  <p:embeddedFontLst>
    <p:embeddedFont>
      <p:font typeface="Pretendard Bold" panose="020B0600000101010101" charset="-127"/>
      <p:bold r:id="rId12"/>
    </p:embeddedFont>
    <p:embeddedFont>
      <p:font typeface="Pretendard Light" panose="020B0600000101010101" charset="-127"/>
      <p:regular r:id="rId13"/>
    </p:embeddedFont>
    <p:embeddedFont>
      <p:font typeface="Pretendard Medium" panose="020B0600000101010101" charset="-127"/>
      <p:bold r:id="rId14"/>
    </p:embeddedFont>
    <p:embeddedFont>
      <p:font typeface="Pretendard Regular" panose="020B0600000101010101" charset="-127"/>
      <p:regular r:id="rId15"/>
    </p:embeddedFont>
    <p:embeddedFont>
      <p:font typeface="Pretendard SemiBold" panose="020B0600000101010101" charset="-127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67700" y="-2565400"/>
            <a:ext cx="190500" cy="15417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6154400" y="-2070100"/>
            <a:ext cx="190500" cy="7010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6154400" y="5359400"/>
            <a:ext cx="190500" cy="7010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7932400" y="3556000"/>
            <a:ext cx="190500" cy="3175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76300" y="1320800"/>
            <a:ext cx="10452100" cy="298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6360"/>
              </a:lnSpc>
            </a:pPr>
            <a:r>
              <a:rPr lang="ko-KR" altLang="en-US" sz="12800" spc="-300" dirty="0">
                <a:solidFill>
                  <a:srgbClr val="191919"/>
                </a:solidFill>
                <a:latin typeface="Pretendard Bold"/>
              </a:rPr>
              <a:t>모바일 </a:t>
            </a:r>
            <a:r>
              <a:rPr lang="ko-KR" altLang="en-US" sz="12800" b="0" i="0" u="none" strike="noStrike" spc="-300" dirty="0">
                <a:solidFill>
                  <a:srgbClr val="191919"/>
                </a:solidFill>
                <a:latin typeface="Pretendard Bold"/>
              </a:rPr>
              <a:t>프로그래밍</a:t>
            </a:r>
            <a:endParaRPr lang="en-US" altLang="ko-KR" sz="12800" b="0" i="0" u="none" strike="noStrike" spc="-300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0600" y="6445250"/>
            <a:ext cx="59055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24499"/>
              </a:lnSpc>
            </a:pPr>
            <a:r>
              <a:rPr lang="en-US" sz="2400" b="0" i="0" u="none" strike="noStrike" dirty="0">
                <a:latin typeface="Pretendard Regular"/>
              </a:rPr>
              <a:t>202205149-</a:t>
            </a:r>
            <a:r>
              <a:rPr lang="ko-KR" altLang="en-US" sz="2400" b="0" i="0" u="none" strike="noStrike" dirty="0">
                <a:latin typeface="Pretendard Regular"/>
              </a:rPr>
              <a:t>김태현</a:t>
            </a:r>
            <a:endParaRPr lang="en-US" sz="2400" b="0" i="0" u="none" strike="noStrike" dirty="0">
              <a:latin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6300" y="5816600"/>
            <a:ext cx="8369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4000" b="0" i="0" u="none" strike="noStrike" dirty="0" err="1">
                <a:solidFill>
                  <a:srgbClr val="191919"/>
                </a:solidFill>
                <a:ea typeface="Pretendard Bold"/>
              </a:rPr>
              <a:t>텀프로젝트</a:t>
            </a:r>
            <a:endParaRPr lang="ko-KR" sz="4000" b="0" i="0" u="none" strike="noStrike" dirty="0">
              <a:solidFill>
                <a:srgbClr val="191919"/>
              </a:solidFill>
              <a:ea typeface="Pretendar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067800" y="-4686300"/>
            <a:ext cx="165100" cy="1677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93700"/>
            <a:ext cx="165100" cy="3124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898900"/>
            <a:ext cx="165100" cy="4762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9029700"/>
            <a:ext cx="165100" cy="83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067800" y="444500"/>
            <a:ext cx="165100" cy="16776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4900" y="393700"/>
            <a:ext cx="165100" cy="3124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4900" y="3886200"/>
            <a:ext cx="165100" cy="476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14900" y="9017000"/>
            <a:ext cx="165100" cy="850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00" y="5283200"/>
            <a:ext cx="48006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09800" y="4737100"/>
            <a:ext cx="3860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1300"/>
              </a:lnSpc>
            </a:pPr>
            <a:r>
              <a:rPr lang="ko-KR" altLang="en-US" sz="2300" b="1" dirty="0">
                <a:solidFill>
                  <a:srgbClr val="191919"/>
                </a:solidFill>
                <a:ea typeface="Pretendard Bold"/>
              </a:rPr>
              <a:t>어플리케이션 설명</a:t>
            </a:r>
            <a:endParaRPr lang="ko-KR" sz="2300" b="1" i="0" u="none" strike="noStrike" dirty="0">
              <a:solidFill>
                <a:srgbClr val="191919"/>
              </a:solidFill>
              <a:ea typeface="Pretendard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448300" y="1346200"/>
            <a:ext cx="73787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9000" b="0" i="0" u="none" strike="noStrike" spc="-100">
                <a:solidFill>
                  <a:srgbClr val="191919"/>
                </a:solidFill>
                <a:latin typeface="Pretendard Bold"/>
              </a:rPr>
              <a:t>CONTENTS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381779-5F2C-E157-11CF-E0609D628D22}"/>
              </a:ext>
            </a:extLst>
          </p:cNvPr>
          <p:cNvSpPr txBox="1"/>
          <p:nvPr/>
        </p:nvSpPr>
        <p:spPr>
          <a:xfrm>
            <a:off x="1270000" y="4735552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1)</a:t>
            </a:r>
            <a:endParaRPr lang="ko-KR" altLang="en-US" sz="2400" dirty="0"/>
          </a:p>
        </p:txBody>
      </p:sp>
      <p:pic>
        <p:nvPicPr>
          <p:cNvPr id="38" name="Picture 10">
            <a:extLst>
              <a:ext uri="{FF2B5EF4-FFF2-40B4-BE49-F238E27FC236}">
                <a16:creationId xmlns:a16="http://schemas.microsoft.com/office/drawing/2014/main" id="{74C08B1B-739C-EBC7-484D-47DED21632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820" y="5283200"/>
            <a:ext cx="4800600" cy="12700"/>
          </a:xfrm>
          <a:prstGeom prst="rect">
            <a:avLst/>
          </a:prstGeom>
        </p:spPr>
      </p:pic>
      <p:sp>
        <p:nvSpPr>
          <p:cNvPr id="39" name="TextBox 11">
            <a:extLst>
              <a:ext uri="{FF2B5EF4-FFF2-40B4-BE49-F238E27FC236}">
                <a16:creationId xmlns:a16="http://schemas.microsoft.com/office/drawing/2014/main" id="{CD45B964-8AB1-F299-A4D1-04D04ADAC927}"/>
              </a:ext>
            </a:extLst>
          </p:cNvPr>
          <p:cNvSpPr txBox="1"/>
          <p:nvPr/>
        </p:nvSpPr>
        <p:spPr>
          <a:xfrm>
            <a:off x="8271620" y="4737100"/>
            <a:ext cx="3860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1300"/>
              </a:lnSpc>
            </a:pPr>
            <a:r>
              <a:rPr lang="ko-KR" altLang="en-US" sz="2300" b="1" dirty="0">
                <a:solidFill>
                  <a:srgbClr val="191919"/>
                </a:solidFill>
                <a:ea typeface="Pretendard Bold"/>
              </a:rPr>
              <a:t>기획 의도</a:t>
            </a:r>
            <a:endParaRPr lang="ko-KR" sz="2300" b="1" i="0" u="none" strike="noStrike" dirty="0">
              <a:solidFill>
                <a:srgbClr val="191919"/>
              </a:solidFill>
              <a:ea typeface="Pretendard Bol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B0D857-CF9E-4BC5-3506-0C2B8E62968A}"/>
              </a:ext>
            </a:extLst>
          </p:cNvPr>
          <p:cNvSpPr txBox="1"/>
          <p:nvPr/>
        </p:nvSpPr>
        <p:spPr>
          <a:xfrm>
            <a:off x="7331820" y="4735552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2)</a:t>
            </a:r>
            <a:endParaRPr lang="ko-KR" altLang="en-US" sz="2400" dirty="0"/>
          </a:p>
        </p:txBody>
      </p:sp>
      <p:pic>
        <p:nvPicPr>
          <p:cNvPr id="41" name="Picture 10">
            <a:extLst>
              <a:ext uri="{FF2B5EF4-FFF2-40B4-BE49-F238E27FC236}">
                <a16:creationId xmlns:a16="http://schemas.microsoft.com/office/drawing/2014/main" id="{7331F198-CB97-16A7-71F6-1A7DF19950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00" y="7754382"/>
            <a:ext cx="4800600" cy="12700"/>
          </a:xfrm>
          <a:prstGeom prst="rect">
            <a:avLst/>
          </a:prstGeom>
        </p:spPr>
      </p:pic>
      <p:sp>
        <p:nvSpPr>
          <p:cNvPr id="42" name="TextBox 11">
            <a:extLst>
              <a:ext uri="{FF2B5EF4-FFF2-40B4-BE49-F238E27FC236}">
                <a16:creationId xmlns:a16="http://schemas.microsoft.com/office/drawing/2014/main" id="{09860827-4D0C-1033-5EEE-584CC9508BEB}"/>
              </a:ext>
            </a:extLst>
          </p:cNvPr>
          <p:cNvSpPr txBox="1"/>
          <p:nvPr/>
        </p:nvSpPr>
        <p:spPr>
          <a:xfrm>
            <a:off x="2209800" y="7208282"/>
            <a:ext cx="3860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1300"/>
              </a:lnSpc>
            </a:pPr>
            <a:r>
              <a:rPr lang="ko-KR" altLang="en-US" sz="2300" b="1" i="0" u="none" strike="noStrike" dirty="0">
                <a:solidFill>
                  <a:srgbClr val="191919"/>
                </a:solidFill>
                <a:ea typeface="Pretendard Bold"/>
              </a:rPr>
              <a:t>앱 구현</a:t>
            </a:r>
            <a:endParaRPr lang="ko-KR" sz="2300" b="1" i="0" u="none" strike="noStrike" dirty="0">
              <a:solidFill>
                <a:srgbClr val="191919"/>
              </a:solidFill>
              <a:ea typeface="Pretendard Bold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17EF82-1D1A-F9D9-640C-9D9BC6A14805}"/>
              </a:ext>
            </a:extLst>
          </p:cNvPr>
          <p:cNvSpPr txBox="1"/>
          <p:nvPr/>
        </p:nvSpPr>
        <p:spPr>
          <a:xfrm>
            <a:off x="1270000" y="7206734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3)</a:t>
            </a:r>
            <a:endParaRPr lang="ko-KR" altLang="en-US" sz="2400" dirty="0"/>
          </a:p>
        </p:txBody>
      </p:sp>
      <p:pic>
        <p:nvPicPr>
          <p:cNvPr id="12" name="Picture 10">
            <a:extLst>
              <a:ext uri="{FF2B5EF4-FFF2-40B4-BE49-F238E27FC236}">
                <a16:creationId xmlns:a16="http://schemas.microsoft.com/office/drawing/2014/main" id="{B7F0E329-3E4E-C20E-099E-12B69512F1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7115" y="7716282"/>
            <a:ext cx="4800600" cy="12700"/>
          </a:xfrm>
          <a:prstGeom prst="rect">
            <a:avLst/>
          </a:prstGeom>
        </p:spPr>
      </p:pic>
      <p:sp>
        <p:nvSpPr>
          <p:cNvPr id="13" name="TextBox 11">
            <a:extLst>
              <a:ext uri="{FF2B5EF4-FFF2-40B4-BE49-F238E27FC236}">
                <a16:creationId xmlns:a16="http://schemas.microsoft.com/office/drawing/2014/main" id="{E8D3F44F-C5D7-4DB7-7503-91931CB3DDAD}"/>
              </a:ext>
            </a:extLst>
          </p:cNvPr>
          <p:cNvSpPr txBox="1"/>
          <p:nvPr/>
        </p:nvSpPr>
        <p:spPr>
          <a:xfrm>
            <a:off x="8256915" y="7170182"/>
            <a:ext cx="3860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1300"/>
              </a:lnSpc>
            </a:pPr>
            <a:r>
              <a:rPr lang="ko-KR" altLang="en-US" sz="2300" b="1" i="0" u="none" strike="noStrike" dirty="0">
                <a:solidFill>
                  <a:srgbClr val="191919"/>
                </a:solidFill>
                <a:ea typeface="Pretendard Bold"/>
              </a:rPr>
              <a:t>사용한 기술</a:t>
            </a:r>
            <a:endParaRPr lang="ko-KR" sz="2300" b="1" i="0" u="none" strike="noStrike" dirty="0">
              <a:solidFill>
                <a:srgbClr val="191919"/>
              </a:solidFill>
              <a:ea typeface="Pretendard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5E299F-809B-45E2-103A-AC88E6BF28D3}"/>
              </a:ext>
            </a:extLst>
          </p:cNvPr>
          <p:cNvSpPr txBox="1"/>
          <p:nvPr/>
        </p:nvSpPr>
        <p:spPr>
          <a:xfrm>
            <a:off x="7317115" y="7168634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2)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9067800" y="-7556500"/>
            <a:ext cx="165100" cy="1729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9067800" y="-5232400"/>
            <a:ext cx="165100" cy="1729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9067800" y="1130300"/>
            <a:ext cx="165100" cy="17297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95300" y="558800"/>
            <a:ext cx="1295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500" b="0" i="0" u="none" strike="noStrike" spc="100">
                <a:solidFill>
                  <a:srgbClr val="787878"/>
                </a:solidFill>
                <a:latin typeface="Pretendard SemiBold"/>
              </a:rPr>
              <a:t>(1)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7900" y="4368800"/>
            <a:ext cx="5727700" cy="3873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Light"/>
              </a:rPr>
              <a:t>단어장 어플리케이션</a:t>
            </a:r>
            <a:endParaRPr lang="en-US" altLang="ko-KR" sz="2800" b="0" i="0" u="none" strike="noStrike" dirty="0">
              <a:solidFill>
                <a:srgbClr val="191919"/>
              </a:solidFill>
              <a:latin typeface="Pretendar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74700" y="5738586"/>
            <a:ext cx="7835900" cy="27241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just">
              <a:lnSpc>
                <a:spcPct val="166000"/>
              </a:lnSpc>
              <a:buFontTx/>
              <a:buChar char="-"/>
            </a:pPr>
            <a:r>
              <a:rPr lang="ko-KR" altLang="en-US" sz="3200" b="0" i="0" u="none" strike="noStrike" dirty="0">
                <a:solidFill>
                  <a:srgbClr val="191919"/>
                </a:solidFill>
                <a:latin typeface="Pretendard Medium"/>
              </a:rPr>
              <a:t>서버를 통한 인터넷 환경에서 동작</a:t>
            </a:r>
            <a:endParaRPr lang="en-US" altLang="ko-KR" sz="3200" b="0" i="0" u="none" strike="noStrike" dirty="0">
              <a:solidFill>
                <a:srgbClr val="191919"/>
              </a:solidFill>
              <a:latin typeface="Pretendard Medium"/>
            </a:endParaRPr>
          </a:p>
          <a:p>
            <a:pPr marL="342900" lvl="0" indent="-342900" algn="just">
              <a:lnSpc>
                <a:spcPct val="166000"/>
              </a:lnSpc>
              <a:buFontTx/>
              <a:buChar char="-"/>
            </a:pPr>
            <a:r>
              <a:rPr lang="ko-KR" altLang="en-US" sz="3200" dirty="0">
                <a:solidFill>
                  <a:srgbClr val="191919"/>
                </a:solidFill>
                <a:latin typeface="Pretendard Medium"/>
              </a:rPr>
              <a:t>직관적인 </a:t>
            </a:r>
            <a:r>
              <a:rPr lang="en-US" altLang="ko-KR" sz="3200" dirty="0">
                <a:solidFill>
                  <a:srgbClr val="191919"/>
                </a:solidFill>
                <a:latin typeface="Pretendard Medium"/>
              </a:rPr>
              <a:t>UI</a:t>
            </a:r>
          </a:p>
          <a:p>
            <a:pPr marL="342900" lvl="0" indent="-342900" algn="just">
              <a:lnSpc>
                <a:spcPct val="166000"/>
              </a:lnSpc>
              <a:buFontTx/>
              <a:buChar char="-"/>
            </a:pPr>
            <a:r>
              <a:rPr lang="ko-KR" altLang="en-US" sz="3200" b="0" i="0" u="none" strike="noStrike" dirty="0">
                <a:solidFill>
                  <a:srgbClr val="191919"/>
                </a:solidFill>
                <a:latin typeface="Pretendard Medium"/>
              </a:rPr>
              <a:t>객체지향 설계를 통한 높은 확장성의 코드</a:t>
            </a:r>
            <a:endParaRPr lang="en-US" altLang="ko-KR" sz="3200" b="0" i="0" u="none" strike="noStrike" dirty="0">
              <a:solidFill>
                <a:srgbClr val="191919"/>
              </a:solidFill>
              <a:latin typeface="Pretendard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940300" y="1600200"/>
            <a:ext cx="84201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200" b="0" i="0" u="none" strike="noStrike" dirty="0">
                <a:solidFill>
                  <a:srgbClr val="191919"/>
                </a:solidFill>
                <a:ea typeface="Pretendard Bold"/>
              </a:rPr>
              <a:t>어플리케이션 설명</a:t>
            </a:r>
            <a:endParaRPr lang="ko-KR" sz="7200" b="0" i="0" u="none" strike="noStrike" dirty="0">
              <a:solidFill>
                <a:srgbClr val="787878"/>
              </a:solidFill>
              <a:ea typeface="Pretendard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8938-EC94-DAC3-0843-D804DE041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7E3D82A-C460-ADF8-1C35-3BC1B7496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9067800" y="-7556500"/>
            <a:ext cx="165100" cy="17297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CCE27CC-6178-6B67-E653-33D0AABFA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9067800" y="-5232400"/>
            <a:ext cx="165100" cy="17297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031D4DD-8B24-5670-BA13-CA7C7DDC9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9067800" y="1130300"/>
            <a:ext cx="165100" cy="17297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5850A44D-7762-FEFD-5BFC-7A4A7CF91F72}"/>
              </a:ext>
            </a:extLst>
          </p:cNvPr>
          <p:cNvSpPr txBox="1"/>
          <p:nvPr/>
        </p:nvSpPr>
        <p:spPr>
          <a:xfrm>
            <a:off x="495300" y="558800"/>
            <a:ext cx="1295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500" b="0" i="0" u="none" strike="noStrike" spc="100">
                <a:solidFill>
                  <a:srgbClr val="787878"/>
                </a:solidFill>
                <a:latin typeface="Pretendard SemiBold"/>
              </a:rPr>
              <a:t>(1)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53767DE-BD1C-F4E5-1E3E-75951CF889E5}"/>
              </a:ext>
            </a:extLst>
          </p:cNvPr>
          <p:cNvSpPr txBox="1"/>
          <p:nvPr/>
        </p:nvSpPr>
        <p:spPr>
          <a:xfrm>
            <a:off x="977900" y="4368800"/>
            <a:ext cx="5727700" cy="3873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Light"/>
              </a:rPr>
              <a:t>단어장 어플리케이션</a:t>
            </a:r>
            <a:endParaRPr lang="en-US" altLang="ko-KR" sz="2800" b="0" i="0" u="none" strike="noStrike" dirty="0">
              <a:solidFill>
                <a:srgbClr val="191919"/>
              </a:solidFill>
              <a:latin typeface="Pretendard Ligh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C3E461-E8E5-9444-8FBC-515C59711700}"/>
              </a:ext>
            </a:extLst>
          </p:cNvPr>
          <p:cNvSpPr txBox="1"/>
          <p:nvPr/>
        </p:nvSpPr>
        <p:spPr>
          <a:xfrm>
            <a:off x="774700" y="5738586"/>
            <a:ext cx="17024350" cy="27241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just">
              <a:lnSpc>
                <a:spcPct val="166000"/>
              </a:lnSpc>
              <a:buFontTx/>
              <a:buChar char="-"/>
            </a:pP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Medium"/>
              </a:rPr>
              <a:t>실물 단어장은 휴대성과 직관적인 사용성을 갖추고 있지만 종이라는 매체로 인한 한계가 뚜렷함</a:t>
            </a:r>
            <a:r>
              <a:rPr lang="en-US" altLang="ko-KR" sz="2800" b="0" i="0" u="none" strike="noStrike" dirty="0">
                <a:solidFill>
                  <a:srgbClr val="191919"/>
                </a:solidFill>
                <a:latin typeface="Pretendard Medium"/>
              </a:rPr>
              <a:t>.</a:t>
            </a:r>
          </a:p>
          <a:p>
            <a:pPr marL="342900" lvl="0" indent="-342900" algn="just">
              <a:lnSpc>
                <a:spcPct val="166000"/>
              </a:lnSpc>
              <a:buFontTx/>
              <a:buChar char="-"/>
            </a:pP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Medium"/>
              </a:rPr>
              <a:t>또한 단어장에 단어를 추가</a:t>
            </a:r>
            <a:r>
              <a:rPr lang="en-US" altLang="ko-KR" sz="2800" b="0" i="0" u="none" strike="noStrike" dirty="0">
                <a:solidFill>
                  <a:srgbClr val="191919"/>
                </a:solidFill>
                <a:latin typeface="Pretendard Medium"/>
              </a:rPr>
              <a:t>, </a:t>
            </a: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Medium"/>
              </a:rPr>
              <a:t>삭제</a:t>
            </a:r>
            <a:r>
              <a:rPr lang="en-US" altLang="ko-KR" sz="2800" b="0" i="0" u="none" strike="noStrike" dirty="0">
                <a:solidFill>
                  <a:srgbClr val="191919"/>
                </a:solidFill>
                <a:latin typeface="Pretendard Medium"/>
              </a:rPr>
              <a:t>, </a:t>
            </a: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Medium"/>
              </a:rPr>
              <a:t>수정하는 과정에서 발생하는 불편함과 시간이 학습 효율을 저해할 수 있음</a:t>
            </a:r>
            <a:r>
              <a:rPr lang="en-US" altLang="ko-KR" sz="2800" b="0" i="0" u="none" strike="noStrike" dirty="0">
                <a:solidFill>
                  <a:srgbClr val="191919"/>
                </a:solidFill>
                <a:latin typeface="Pretendard Medium"/>
              </a:rPr>
              <a:t>.</a:t>
            </a:r>
          </a:p>
          <a:p>
            <a:pPr marL="342900" lvl="0" indent="-342900" algn="just">
              <a:lnSpc>
                <a:spcPct val="166000"/>
              </a:lnSpc>
              <a:buFontTx/>
              <a:buChar char="-"/>
            </a:pP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Medium"/>
              </a:rPr>
              <a:t>모바일 환경에서의 </a:t>
            </a:r>
            <a:r>
              <a:rPr lang="ko-KR" altLang="en-US" sz="2800" b="0" i="0" u="none" strike="noStrike" dirty="0" err="1">
                <a:solidFill>
                  <a:srgbClr val="191919"/>
                </a:solidFill>
                <a:latin typeface="Pretendard Medium"/>
              </a:rPr>
              <a:t>영단어</a:t>
            </a: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Medium"/>
              </a:rPr>
              <a:t> </a:t>
            </a:r>
            <a:r>
              <a:rPr lang="en-US" altLang="ko-KR" sz="2800" b="0" i="0" u="none" strike="noStrike" dirty="0">
                <a:solidFill>
                  <a:srgbClr val="191919"/>
                </a:solidFill>
                <a:latin typeface="Pretendard Medium"/>
              </a:rPr>
              <a:t>Application</a:t>
            </a: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Medium"/>
              </a:rPr>
              <a:t>은 모든 데이터를 서면이 아닌 휴대폰 어플리케이션 하나만으로 조작할 수 있기에 기존의 실물 영어 단어장보다 훨씬 효율적임이 예상됨</a:t>
            </a:r>
            <a:r>
              <a:rPr lang="en-US" altLang="ko-KR" sz="2800" b="0" i="0" u="none" strike="noStrike" dirty="0">
                <a:solidFill>
                  <a:srgbClr val="191919"/>
                </a:solidFill>
                <a:latin typeface="Pretendard Medium"/>
              </a:rPr>
              <a:t>.</a:t>
            </a:r>
          </a:p>
          <a:p>
            <a:pPr marL="342900" lvl="0" indent="-342900" algn="just">
              <a:lnSpc>
                <a:spcPct val="166000"/>
              </a:lnSpc>
              <a:buFontTx/>
              <a:buChar char="-"/>
            </a:pPr>
            <a:r>
              <a:rPr lang="ko-KR" altLang="en-US" sz="2800" b="0" i="0" u="none" strike="noStrike" dirty="0">
                <a:solidFill>
                  <a:srgbClr val="191919"/>
                </a:solidFill>
                <a:latin typeface="Pretendard Medium"/>
              </a:rPr>
              <a:t>따라서 실물 영어 단어장을 완전히 대체하는 단어장 앱은 시장에서의 경쟁력이 충분히 있다고 판단됨</a:t>
            </a:r>
            <a:r>
              <a:rPr lang="en-US" altLang="ko-KR" sz="2800" b="0" i="0" u="none" strike="noStrike" dirty="0">
                <a:solidFill>
                  <a:srgbClr val="191919"/>
                </a:solidFill>
                <a:latin typeface="Pretendard Medium"/>
              </a:rPr>
              <a:t>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9488A63-462F-DC38-28EF-49093504859C}"/>
              </a:ext>
            </a:extLst>
          </p:cNvPr>
          <p:cNvSpPr txBox="1"/>
          <p:nvPr/>
        </p:nvSpPr>
        <p:spPr>
          <a:xfrm>
            <a:off x="4940300" y="1600200"/>
            <a:ext cx="84201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200" dirty="0">
                <a:solidFill>
                  <a:srgbClr val="191919"/>
                </a:solidFill>
                <a:ea typeface="Pretendard Bold"/>
              </a:rPr>
              <a:t>기획 의도</a:t>
            </a:r>
            <a:endParaRPr lang="ko-KR" sz="7200" b="0" i="0" u="none" strike="noStrike" dirty="0">
              <a:solidFill>
                <a:srgbClr val="787878"/>
              </a:solidFill>
              <a:ea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345376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1E6E-68F6-D16A-D7F1-9EB897EB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>
            <a:extLst>
              <a:ext uri="{FF2B5EF4-FFF2-40B4-BE49-F238E27FC236}">
                <a16:creationId xmlns:a16="http://schemas.microsoft.com/office/drawing/2014/main" id="{CFC45E52-EE3F-4AAF-EB17-E263278DD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9067800" y="-7556500"/>
            <a:ext cx="165100" cy="17297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32144369-D779-7AD7-C515-241C0904AFDE}"/>
              </a:ext>
            </a:extLst>
          </p:cNvPr>
          <p:cNvSpPr txBox="1"/>
          <p:nvPr/>
        </p:nvSpPr>
        <p:spPr>
          <a:xfrm>
            <a:off x="495300" y="558800"/>
            <a:ext cx="1295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500" b="0" i="0" u="none" strike="noStrike" spc="100">
                <a:solidFill>
                  <a:srgbClr val="787878"/>
                </a:solidFill>
                <a:latin typeface="Pretendard SemiBold"/>
              </a:rPr>
              <a:t>(2)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88A112B-6934-C5C6-97A8-01CFF2C44726}"/>
              </a:ext>
            </a:extLst>
          </p:cNvPr>
          <p:cNvSpPr txBox="1"/>
          <p:nvPr/>
        </p:nvSpPr>
        <p:spPr>
          <a:xfrm>
            <a:off x="15849600" y="571500"/>
            <a:ext cx="19304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3000"/>
              </a:lnSpc>
            </a:pPr>
            <a:r>
              <a:rPr lang="en-US" sz="1400" b="0" i="0" u="none" strike="noStrike" spc="100">
                <a:solidFill>
                  <a:srgbClr val="787878"/>
                </a:solidFill>
                <a:latin typeface="Pretendard SemiBold"/>
              </a:rPr>
              <a:t>MIRI COMPANY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179E1DB-FB36-5AEC-9782-50E181E322B8}"/>
              </a:ext>
            </a:extLst>
          </p:cNvPr>
          <p:cNvSpPr txBox="1"/>
          <p:nvPr/>
        </p:nvSpPr>
        <p:spPr>
          <a:xfrm>
            <a:off x="12395200" y="9461500"/>
            <a:ext cx="86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1A35241-88A1-1399-D82E-01519F1B6429}"/>
              </a:ext>
            </a:extLst>
          </p:cNvPr>
          <p:cNvSpPr txBox="1"/>
          <p:nvPr/>
        </p:nvSpPr>
        <p:spPr>
          <a:xfrm>
            <a:off x="16789400" y="9461500"/>
            <a:ext cx="901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2F4B0E9-F0DE-C50F-4765-7A044CE512D6}"/>
              </a:ext>
            </a:extLst>
          </p:cNvPr>
          <p:cNvSpPr txBox="1"/>
          <p:nvPr/>
        </p:nvSpPr>
        <p:spPr>
          <a:xfrm>
            <a:off x="4603750" y="1450521"/>
            <a:ext cx="89281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200" b="0" i="0" u="none" strike="noStrike">
                <a:solidFill>
                  <a:srgbClr val="191919"/>
                </a:solidFill>
                <a:ea typeface="Pretendard Bold"/>
              </a:rPr>
              <a:t>실행 화면</a:t>
            </a:r>
            <a:endParaRPr lang="ko-KR" sz="7200" b="0" i="0" u="none" strike="noStrike" dirty="0">
              <a:solidFill>
                <a:srgbClr val="787878"/>
              </a:solidFill>
              <a:ea typeface="Pretendard Bold"/>
            </a:endParaRPr>
          </a:p>
        </p:txBody>
      </p:sp>
      <p:pic>
        <p:nvPicPr>
          <p:cNvPr id="2" name="192.168.196.3_ 원격 데스크톱 연결 2024-12-11 13-40-58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A7322B12-9A6A-5D60-1466-84C17A8844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14600" y="2274967"/>
            <a:ext cx="3581400" cy="70023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18E44E1-C045-FF0D-7B86-F8778E3CA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8600" y="2733527"/>
            <a:ext cx="11201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813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9067800" y="-7556500"/>
            <a:ext cx="165100" cy="17297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95300" y="558800"/>
            <a:ext cx="1295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500" b="0" i="0" u="none" strike="noStrike" spc="100">
                <a:solidFill>
                  <a:srgbClr val="787878"/>
                </a:solidFill>
                <a:latin typeface="Pretendard SemiBold"/>
              </a:rPr>
              <a:t>(2)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49600" y="571500"/>
            <a:ext cx="19304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3000"/>
              </a:lnSpc>
            </a:pPr>
            <a:r>
              <a:rPr lang="en-US" sz="1400" b="0" i="0" u="none" strike="noStrike" spc="100">
                <a:solidFill>
                  <a:srgbClr val="787878"/>
                </a:solidFill>
                <a:latin typeface="Pretendard SemiBold"/>
              </a:rPr>
              <a:t>MIRI COMPANY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95200" y="9461500"/>
            <a:ext cx="86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789400" y="9461500"/>
            <a:ext cx="901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603750" y="1450521"/>
            <a:ext cx="89281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7200" b="0" i="0" u="none" strike="noStrike" dirty="0">
                <a:ea typeface="Pretendard Bold"/>
              </a:rPr>
              <a:t>Retrofit2</a:t>
            </a:r>
            <a:endParaRPr lang="ko-KR" sz="7200" b="0" i="0" u="none" strike="noStrike" dirty="0">
              <a:ea typeface="Pretendard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1A1E7C-BF6E-C66B-72B6-9D155DD4E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745921"/>
            <a:ext cx="2533650" cy="65913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C3FA8B-F96B-C33B-FCF2-6685B68CA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007" y="2746375"/>
            <a:ext cx="6486525" cy="67151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D63C406-0220-15D9-3F8D-5C6D7655F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3390899"/>
            <a:ext cx="6277235" cy="4645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884A9-9930-56CC-0C60-4CEB392D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>
            <a:extLst>
              <a:ext uri="{FF2B5EF4-FFF2-40B4-BE49-F238E27FC236}">
                <a16:creationId xmlns:a16="http://schemas.microsoft.com/office/drawing/2014/main" id="{2F2B4E55-9521-331B-2462-70680CF7D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9067800" y="-7556500"/>
            <a:ext cx="165100" cy="17297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AF4716D2-A543-2183-DC3B-6DCA51B963DD}"/>
              </a:ext>
            </a:extLst>
          </p:cNvPr>
          <p:cNvSpPr txBox="1"/>
          <p:nvPr/>
        </p:nvSpPr>
        <p:spPr>
          <a:xfrm>
            <a:off x="495300" y="558800"/>
            <a:ext cx="1295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500" b="0" i="0" u="none" strike="noStrike" spc="100">
                <a:solidFill>
                  <a:srgbClr val="787878"/>
                </a:solidFill>
                <a:latin typeface="Pretendard SemiBold"/>
              </a:rPr>
              <a:t>(2)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F0E5084-6915-6613-F10E-A44E875123BD}"/>
              </a:ext>
            </a:extLst>
          </p:cNvPr>
          <p:cNvSpPr txBox="1"/>
          <p:nvPr/>
        </p:nvSpPr>
        <p:spPr>
          <a:xfrm>
            <a:off x="15849600" y="571500"/>
            <a:ext cx="19304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3000"/>
              </a:lnSpc>
            </a:pPr>
            <a:r>
              <a:rPr lang="en-US" sz="1400" b="0" i="0" u="none" strike="noStrike" spc="100">
                <a:solidFill>
                  <a:srgbClr val="787878"/>
                </a:solidFill>
                <a:latin typeface="Pretendard SemiBold"/>
              </a:rPr>
              <a:t>MIRI COMPANY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CB4739D-8F4C-EBCE-418F-7CCFE2F4C4D5}"/>
              </a:ext>
            </a:extLst>
          </p:cNvPr>
          <p:cNvSpPr txBox="1"/>
          <p:nvPr/>
        </p:nvSpPr>
        <p:spPr>
          <a:xfrm>
            <a:off x="12395200" y="9461500"/>
            <a:ext cx="86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C93C0AC-3D22-DBFE-AD7F-151F33312BF1}"/>
              </a:ext>
            </a:extLst>
          </p:cNvPr>
          <p:cNvSpPr txBox="1"/>
          <p:nvPr/>
        </p:nvSpPr>
        <p:spPr>
          <a:xfrm>
            <a:off x="16789400" y="9461500"/>
            <a:ext cx="901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A37977E-4C91-40C4-1E9A-35A0E019562A}"/>
              </a:ext>
            </a:extLst>
          </p:cNvPr>
          <p:cNvSpPr txBox="1"/>
          <p:nvPr/>
        </p:nvSpPr>
        <p:spPr>
          <a:xfrm>
            <a:off x="4603750" y="1450521"/>
            <a:ext cx="89281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7200" dirty="0">
                <a:ea typeface="Pretendard Bold"/>
              </a:rPr>
              <a:t>MVVM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FC68C7-7E1C-7C07-5438-0576A10B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0" y="2046660"/>
            <a:ext cx="3657600" cy="7068766"/>
          </a:xfrm>
          <a:prstGeom prst="rect">
            <a:avLst/>
          </a:prstGeom>
        </p:spPr>
      </p:pic>
      <p:pic>
        <p:nvPicPr>
          <p:cNvPr id="3074" name="Picture 2" descr="MVVM 시작하기(1) ― LiveData, Room을 MVVM패턴으로 사용해보자">
            <a:extLst>
              <a:ext uri="{FF2B5EF4-FFF2-40B4-BE49-F238E27FC236}">
                <a16:creationId xmlns:a16="http://schemas.microsoft.com/office/drawing/2014/main" id="{200E41CD-E4F8-EBEE-D49A-77C659DEC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476500"/>
            <a:ext cx="8003267" cy="767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97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9CE8A-7261-B9CD-D2C4-AE3C38AB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>
            <a:extLst>
              <a:ext uri="{FF2B5EF4-FFF2-40B4-BE49-F238E27FC236}">
                <a16:creationId xmlns:a16="http://schemas.microsoft.com/office/drawing/2014/main" id="{C3A37AAE-5346-B8F7-A157-162D690D7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9067800" y="-7556500"/>
            <a:ext cx="165100" cy="17297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9E0410D3-13ED-770F-B181-BC56CA57D568}"/>
              </a:ext>
            </a:extLst>
          </p:cNvPr>
          <p:cNvSpPr txBox="1"/>
          <p:nvPr/>
        </p:nvSpPr>
        <p:spPr>
          <a:xfrm>
            <a:off x="495300" y="558800"/>
            <a:ext cx="1295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500" b="0" i="0" u="none" strike="noStrike" spc="100">
                <a:solidFill>
                  <a:srgbClr val="787878"/>
                </a:solidFill>
                <a:latin typeface="Pretendard SemiBold"/>
              </a:rPr>
              <a:t>(2)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0EF9452-445D-FF29-2093-506B980B65FF}"/>
              </a:ext>
            </a:extLst>
          </p:cNvPr>
          <p:cNvSpPr txBox="1"/>
          <p:nvPr/>
        </p:nvSpPr>
        <p:spPr>
          <a:xfrm>
            <a:off x="15849600" y="571500"/>
            <a:ext cx="19304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3000"/>
              </a:lnSpc>
            </a:pPr>
            <a:r>
              <a:rPr lang="en-US" sz="1400" b="0" i="0" u="none" strike="noStrike" spc="100">
                <a:solidFill>
                  <a:srgbClr val="787878"/>
                </a:solidFill>
                <a:latin typeface="Pretendard SemiBold"/>
              </a:rPr>
              <a:t>MIRI COMPANY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ADCFFD9-5ECD-BC25-FB97-A0EE5961C2CA}"/>
              </a:ext>
            </a:extLst>
          </p:cNvPr>
          <p:cNvSpPr txBox="1"/>
          <p:nvPr/>
        </p:nvSpPr>
        <p:spPr>
          <a:xfrm>
            <a:off x="12395200" y="9461500"/>
            <a:ext cx="86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572C491-85BB-0958-39E8-6560AF4EEA10}"/>
              </a:ext>
            </a:extLst>
          </p:cNvPr>
          <p:cNvSpPr txBox="1"/>
          <p:nvPr/>
        </p:nvSpPr>
        <p:spPr>
          <a:xfrm>
            <a:off x="16789400" y="9461500"/>
            <a:ext cx="901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9553C21-FEB6-10EB-3B8E-E6829E037856}"/>
              </a:ext>
            </a:extLst>
          </p:cNvPr>
          <p:cNvSpPr txBox="1"/>
          <p:nvPr/>
        </p:nvSpPr>
        <p:spPr>
          <a:xfrm>
            <a:off x="4603750" y="1450521"/>
            <a:ext cx="89281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7200" dirty="0" err="1">
                <a:ea typeface="Pretendard Bold"/>
              </a:rPr>
              <a:t>RecyclerView</a:t>
            </a:r>
            <a:endParaRPr lang="en-US" altLang="ko-KR" sz="7200" dirty="0">
              <a:ea typeface="Pretendard Bold"/>
            </a:endParaRPr>
          </a:p>
        </p:txBody>
      </p:sp>
      <p:pic>
        <p:nvPicPr>
          <p:cNvPr id="2050" name="Picture 2" descr="Android] RecyclerView(1) - 기본 사용법">
            <a:extLst>
              <a:ext uri="{FF2B5EF4-FFF2-40B4-BE49-F238E27FC236}">
                <a16:creationId xmlns:a16="http://schemas.microsoft.com/office/drawing/2014/main" id="{DD5480F8-969D-DE0E-6464-52A72DFE4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24175"/>
            <a:ext cx="7067550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4C87BA3-5E9F-3743-74C9-9679B64A7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9309" y="3130096"/>
            <a:ext cx="1828800" cy="618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448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6D39-6E20-73E4-1D99-36B8262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>
            <a:extLst>
              <a:ext uri="{FF2B5EF4-FFF2-40B4-BE49-F238E27FC236}">
                <a16:creationId xmlns:a16="http://schemas.microsoft.com/office/drawing/2014/main" id="{636045B3-FE0C-36B1-7CD6-A1110167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9067800" y="-7556500"/>
            <a:ext cx="165100" cy="17297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ABEA58A9-5093-4D2B-EF0F-53D7DC618EF7}"/>
              </a:ext>
            </a:extLst>
          </p:cNvPr>
          <p:cNvSpPr txBox="1"/>
          <p:nvPr/>
        </p:nvSpPr>
        <p:spPr>
          <a:xfrm>
            <a:off x="495300" y="558800"/>
            <a:ext cx="1295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500" b="0" i="0" u="none" strike="noStrike" spc="100">
                <a:solidFill>
                  <a:srgbClr val="787878"/>
                </a:solidFill>
                <a:latin typeface="Pretendard SemiBold"/>
              </a:rPr>
              <a:t>(2)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1138F4D-91BF-649D-F2EA-B53E9D32CDA3}"/>
              </a:ext>
            </a:extLst>
          </p:cNvPr>
          <p:cNvSpPr txBox="1"/>
          <p:nvPr/>
        </p:nvSpPr>
        <p:spPr>
          <a:xfrm>
            <a:off x="15849600" y="571500"/>
            <a:ext cx="19304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3000"/>
              </a:lnSpc>
            </a:pPr>
            <a:r>
              <a:rPr lang="en-US" sz="1400" b="0" i="0" u="none" strike="noStrike" spc="100">
                <a:solidFill>
                  <a:srgbClr val="787878"/>
                </a:solidFill>
                <a:latin typeface="Pretendard SemiBold"/>
              </a:rPr>
              <a:t>MIRI COMPANY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C10EB74-69D1-1E11-7B51-5991EAC78F7E}"/>
              </a:ext>
            </a:extLst>
          </p:cNvPr>
          <p:cNvSpPr txBox="1"/>
          <p:nvPr/>
        </p:nvSpPr>
        <p:spPr>
          <a:xfrm>
            <a:off x="12395200" y="9461500"/>
            <a:ext cx="86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7131AB8-9D8A-0840-1FEF-686EEF14C032}"/>
              </a:ext>
            </a:extLst>
          </p:cNvPr>
          <p:cNvSpPr txBox="1"/>
          <p:nvPr/>
        </p:nvSpPr>
        <p:spPr>
          <a:xfrm>
            <a:off x="16789400" y="9461500"/>
            <a:ext cx="901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600" b="0" i="0" u="none" strike="noStrike" dirty="0">
              <a:solidFill>
                <a:srgbClr val="191919"/>
              </a:solidFill>
              <a:latin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3C56A02-1513-521C-40FC-54C2F0039C31}"/>
              </a:ext>
            </a:extLst>
          </p:cNvPr>
          <p:cNvSpPr txBox="1"/>
          <p:nvPr/>
        </p:nvSpPr>
        <p:spPr>
          <a:xfrm>
            <a:off x="4603750" y="1450521"/>
            <a:ext cx="89281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7200" dirty="0">
                <a:ea typeface="Pretendard Bold"/>
              </a:rPr>
              <a:t>Navigator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7D2B2A-58E5-D9CE-C14F-1909A106E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2733219"/>
            <a:ext cx="7734300" cy="7162800"/>
          </a:xfrm>
          <a:prstGeom prst="rect">
            <a:avLst/>
          </a:prstGeom>
        </p:spPr>
      </p:pic>
      <p:pic>
        <p:nvPicPr>
          <p:cNvPr id="4098" name="Picture 2" descr="Single Activity vs Multiple Activity Architecture -Android App">
            <a:extLst>
              <a:ext uri="{FF2B5EF4-FFF2-40B4-BE49-F238E27FC236}">
                <a16:creationId xmlns:a16="http://schemas.microsoft.com/office/drawing/2014/main" id="{1DFBAF24-07A6-7511-EBC2-536A486AC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994" y="2733220"/>
            <a:ext cx="8073119" cy="538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86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100" y="393700"/>
            <a:ext cx="165100" cy="4483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347700" y="1092200"/>
            <a:ext cx="165100" cy="8102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787900" y="1092200"/>
            <a:ext cx="165100" cy="810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5397500"/>
            <a:ext cx="165100" cy="448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93700"/>
            <a:ext cx="165100" cy="948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7600" y="393700"/>
            <a:ext cx="165100" cy="9486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3780000">
            <a:off x="4787900" y="-1765300"/>
            <a:ext cx="165100" cy="8801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780000">
            <a:off x="4787900" y="-1765300"/>
            <a:ext cx="165100" cy="8801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639550" y="5227864"/>
            <a:ext cx="5676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altLang="ko-KR" sz="1700" b="0" i="0" u="none" strike="noStrike">
                <a:solidFill>
                  <a:srgbClr val="787878"/>
                </a:solidFill>
                <a:ea typeface="Pretendard Regular"/>
              </a:rPr>
              <a:t>202205149-</a:t>
            </a:r>
            <a:r>
              <a:rPr lang="ko-KR" altLang="en-US" sz="1700" b="0" i="0" u="none" strike="noStrike" dirty="0">
                <a:solidFill>
                  <a:srgbClr val="787878"/>
                </a:solidFill>
                <a:ea typeface="Pretendard Regular"/>
              </a:rPr>
              <a:t>김태현</a:t>
            </a:r>
            <a:endParaRPr lang="en-US" sz="1700" b="0" i="0" u="none" strike="noStrike" dirty="0">
              <a:solidFill>
                <a:srgbClr val="787878"/>
              </a:solidFill>
              <a:latin typeface="Pretendard Regular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2" name="TextBox 22"/>
          <p:cNvSpPr txBox="1"/>
          <p:nvPr/>
        </p:nvSpPr>
        <p:spPr>
          <a:xfrm>
            <a:off x="8585200" y="3022600"/>
            <a:ext cx="8813800" cy="186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3000"/>
              </a:lnSpc>
            </a:pPr>
            <a:r>
              <a:rPr lang="ko-KR" altLang="en-US" sz="10500" spc="-300" dirty="0">
                <a:solidFill>
                  <a:srgbClr val="191919"/>
                </a:solidFill>
                <a:latin typeface="Pretendard Bold"/>
              </a:rPr>
              <a:t>감사합니다</a:t>
            </a:r>
            <a:endParaRPr lang="en-US" sz="10500" b="0" i="0" u="none" strike="noStrike" spc="-300" dirty="0">
              <a:solidFill>
                <a:srgbClr val="FD9F28"/>
              </a:solidFill>
              <a:latin typeface="Pretendard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151</Words>
  <Application>Microsoft Office PowerPoint</Application>
  <PresentationFormat>사용자 지정</PresentationFormat>
  <Paragraphs>42</Paragraphs>
  <Slides>10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Pretendard Medium</vt:lpstr>
      <vt:lpstr>Pretendard SemiBold</vt:lpstr>
      <vt:lpstr>Calibri</vt:lpstr>
      <vt:lpstr>Arial</vt:lpstr>
      <vt:lpstr>Pretendard Light</vt:lpstr>
      <vt:lpstr>Pretendard Regular</vt:lpstr>
      <vt:lpstr>Pretendard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KTH</dc:creator>
  <cp:lastModifiedBy>김태현</cp:lastModifiedBy>
  <cp:revision>18</cp:revision>
  <dcterms:created xsi:type="dcterms:W3CDTF">2006-08-16T00:00:00Z</dcterms:created>
  <dcterms:modified xsi:type="dcterms:W3CDTF">2024-12-11T05:03:49Z</dcterms:modified>
</cp:coreProperties>
</file>